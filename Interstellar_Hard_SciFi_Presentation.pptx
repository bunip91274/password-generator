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5AA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4572000"/>
            <a:ext cx="4572000" cy="4572000"/>
          </a:xfrm>
          <a:prstGeom prst="ellipse">
            <a:avLst/>
          </a:prstGeom>
          <a:solidFill>
            <a:srgbClr val="FFC33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2103120"/>
            <a:ext cx="3931920" cy="381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 i="0">
                <a:solidFill>
                  <a:srgbClr val="FAFAFF"/>
                </a:solidFill>
                <a:latin typeface="Calibri"/>
              </a:defRPr>
            </a:pPr>
            <a:r>
              <a:t>INTERSTELLAR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50DCE6"/>
                </a:solidFill>
                <a:latin typeface="Calibri Light"/>
              </a:defRPr>
            </a:pPr>
            <a:r>
              <a:t>Hard Science Fiction in Film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4572000"/>
            <a:ext cx="2103120" cy="254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69BB4"/>
                </a:solidFill>
                <a:latin typeface="Calibri Light"/>
              </a:defRPr>
            </a:pPr>
            <a:r>
              <a:t>Directed by Christopher Nolan  •  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969BB4"/>
                </a:solidFill>
                <a:latin typeface="Calibri Light"/>
              </a:defRPr>
            </a:pPr>
            <a:r>
              <a:t>ISU Genre Study  |  Companion to Project Hail Mary by Andy Weir</a:t>
            </a:r>
          </a:p>
        </p:txBody>
      </p:sp>
    </p:spTree>
  </p:cSld>
  <p:clrMapOvr>
    <a:masterClrMapping/>
  </p:clrMapOvr>
  <p:transition xmlns:ns0="http://schemas.microsoft.com/office/powerpoint/2010/main" spd="med" ns0:dur="1000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3657600" cy="3657600"/>
          </a:xfrm>
          <a:prstGeom prst="ellipse">
            <a:avLst/>
          </a:prstGeom>
          <a:solidFill>
            <a:srgbClr val="50DCE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5AAAFF"/>
                </a:solidFill>
                <a:latin typeface="Calibri"/>
              </a:defRPr>
            </a:pPr>
            <a:r>
              <a:t>What Is Hard Science Fiction?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200400" cy="381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515600" cy="1097280"/>
          </a:xfrm>
          <a:prstGeom prst="roundRect">
            <a:avLst/>
          </a:prstGeom>
          <a:solidFill>
            <a:srgbClr val="141937"/>
          </a:solidFill>
          <a:ln w="1905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C33C"/>
                </a:solidFill>
                <a:latin typeface="Calibri Light"/>
              </a:defRPr>
            </a:pPr>
            <a:r>
              <a:t>  The science is the story — not the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1800"/>
              </a:spcBef>
              <a:defRPr sz="2000" b="0" i="0">
                <a:solidFill>
                  <a:srgbClr val="D2D7E6"/>
                </a:solidFill>
                <a:latin typeface="Calibri Light"/>
              </a:defRPr>
            </a:pPr>
            <a:r>
              <a:t>▸  Soft sci-fi uses spaceships and robots as decoration</a:t>
            </a:r>
          </a:p>
          <a:p>
            <a:pPr algn="l">
              <a:spcBef>
                <a:spcPts val="1800"/>
              </a:spcBef>
              <a:defRPr sz="2000" b="0" i="0">
                <a:solidFill>
                  <a:srgbClr val="D2D7E6"/>
                </a:solidFill>
                <a:latin typeface="Calibri Light"/>
              </a:defRPr>
            </a:pPr>
            <a:r>
              <a:t>▸  Hard sci-fi: remove the physics or biology → the plot collapses</a:t>
            </a:r>
          </a:p>
          <a:p>
            <a:pPr algn="l">
              <a:spcBef>
                <a:spcPts val="1800"/>
              </a:spcBef>
              <a:defRPr sz="2000" b="0" i="0">
                <a:solidFill>
                  <a:srgbClr val="D2D7E6"/>
                </a:solidFill>
                <a:latin typeface="Calibri Light"/>
              </a:defRPr>
            </a:pPr>
            <a:r>
              <a:t>▸  Always begins with a plausible "what if" premise</a:t>
            </a:r>
          </a:p>
          <a:p>
            <a:pPr algn="l">
              <a:spcBef>
                <a:spcPts val="1800"/>
              </a:spcBef>
              <a:defRPr sz="2000" b="0" i="0">
                <a:solidFill>
                  <a:srgbClr val="D2D7E6"/>
                </a:solidFill>
                <a:latin typeface="Calibri Light"/>
              </a:defRPr>
            </a:pPr>
            <a:r>
              <a:t>▸  Uses that premise to examine something true about the real world</a:t>
            </a:r>
          </a:p>
        </p:txBody>
      </p:sp>
    </p:spTree>
  </p:cSld>
  <p:clrMapOvr>
    <a:masterClrMapping/>
  </p:clrMapOvr>
  <p:transition xmlns:ns0="http://schemas.microsoft.com/office/powerpoint/2010/main" spd="med" ns0:dur="800">
    <p:fade thruBlk="1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0" y="1828800"/>
            <a:ext cx="5486400" cy="5486400"/>
          </a:xfrm>
          <a:prstGeom prst="ellipse">
            <a:avLst/>
          </a:prstGeom>
          <a:solidFill>
            <a:srgbClr val="FFC33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457200"/>
            <a:ext cx="5486400" cy="5486400"/>
          </a:xfrm>
          <a:prstGeom prst="ellipse">
            <a:avLst/>
          </a:prstGeom>
          <a:solidFill>
            <a:srgbClr val="5AAA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2377440"/>
            <a:ext cx="4846320" cy="25400"/>
          </a:xfrm>
          <a:prstGeom prst="rect">
            <a:avLst/>
          </a:prstGeom>
          <a:solidFill>
            <a:srgbClr val="FFC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 i="0">
                <a:solidFill>
                  <a:srgbClr val="FFC33C"/>
                </a:solidFill>
                <a:latin typeface="Calibri"/>
              </a:defRPr>
            </a:pPr>
            <a:r>
              <a:t>THREE HALLMARKS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69BB4"/>
                </a:solidFill>
                <a:latin typeface="Calibri Light"/>
              </a:defRPr>
            </a:pPr>
            <a:r>
              <a:t>OF HARD SCIENCE FICTION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4572000"/>
            <a:ext cx="4846320" cy="25400"/>
          </a:xfrm>
          <a:prstGeom prst="rect">
            <a:avLst/>
          </a:prstGeom>
          <a:solidFill>
            <a:srgbClr val="FFC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969BB4"/>
                </a:solidFill>
                <a:latin typeface="Calibri Light"/>
              </a:defRPr>
            </a:pPr>
            <a:r>
              <a:t>Each demonstrated in Interstellar — with one additional genre example</a:t>
            </a:r>
          </a:p>
        </p:txBody>
      </p:sp>
    </p:spTree>
  </p:cSld>
  <p:clrMapOvr>
    <a:masterClrMapping/>
  </p:clrMapOvr>
  <p:transition xmlns:ns0="http://schemas.microsoft.com/office/powerpoint/2010/main" spd="med" ns0:dur="900">
    <p:wipe dir="d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5AAAFF"/>
                </a:solidFill>
                <a:latin typeface="Calibri"/>
              </a:defRPr>
            </a:pPr>
            <a:r>
              <a:t>Three Hallmarks —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200400" cy="381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332720" cy="1325880"/>
          </a:xfrm>
          <a:prstGeom prst="roundRect">
            <a:avLst/>
          </a:prstGeom>
          <a:solidFill>
            <a:srgbClr val="121637"/>
          </a:solidFill>
          <a:ln w="15240">
            <a:solidFill>
              <a:srgbClr val="5A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65960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FFC33C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9659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AFAFF"/>
                </a:solidFill>
                <a:latin typeface="Calibri"/>
              </a:defRPr>
            </a:pPr>
            <a:r>
              <a:t>Science as Plot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5146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69BB4"/>
                </a:solidFill>
                <a:latin typeface="Calibri Light"/>
              </a:defRPr>
            </a:pPr>
            <a:r>
              <a:t>The science drives every plot event — remove it and the story collapses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429000"/>
            <a:ext cx="10332720" cy="1325880"/>
          </a:xfrm>
          <a:prstGeom prst="roundRect">
            <a:avLst/>
          </a:prstGeom>
          <a:solidFill>
            <a:srgbClr val="121637"/>
          </a:solidFill>
          <a:ln w="15240">
            <a:solidFill>
              <a:srgbClr val="5A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566160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FFC33C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35661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AFAFF"/>
                </a:solidFill>
                <a:latin typeface="Calibri"/>
              </a:defRPr>
            </a:pPr>
            <a:r>
              <a:t>Isolated Protagonist as Social Mirror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1148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69BB4"/>
                </a:solidFill>
                <a:latin typeface="Calibri Light"/>
              </a:defRPr>
            </a:pPr>
            <a:r>
              <a:t>Strips away civilization to ask what it was actually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29200"/>
            <a:ext cx="10332720" cy="1325880"/>
          </a:xfrm>
          <a:prstGeom prst="roundRect">
            <a:avLst/>
          </a:prstGeom>
          <a:solidFill>
            <a:srgbClr val="121637"/>
          </a:solidFill>
          <a:ln w="15240">
            <a:solidFill>
              <a:srgbClr val="5A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166360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FFC33C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166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AFAFF"/>
                </a:solidFill>
                <a:latin typeface="Calibri"/>
              </a:defRPr>
            </a:pPr>
            <a:r>
              <a:t>"What If" Premise as Social Critique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5715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69BB4"/>
                </a:solidFill>
                <a:latin typeface="Calibri Light"/>
              </a:defRPr>
            </a:pPr>
            <a:r>
              <a:t>Uses a plausible premise to interrogate the present world</a:t>
            </a:r>
          </a:p>
        </p:txBody>
      </p:sp>
    </p:spTree>
  </p:cSld>
  <p:clrMapOvr>
    <a:masterClrMapping/>
  </p:clrMapOvr>
  <p:transition xmlns:ns0="http://schemas.microsoft.com/office/powerpoint/2010/main" spd="med" ns0:dur="800">
    <p:fade thruBlk="1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914400"/>
            <a:ext cx="3200400" cy="3200400"/>
          </a:xfrm>
          <a:prstGeom prst="ellipse">
            <a:avLst/>
          </a:prstGeom>
          <a:solidFill>
            <a:srgbClr val="5AAA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5AAAFF"/>
                </a:solidFill>
                <a:latin typeface="Calibri"/>
              </a:defRPr>
            </a:pPr>
            <a:r>
              <a:t>Hallmark 1: Science as Plot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5486400" cy="254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C33C"/>
                </a:solidFill>
                <a:latin typeface="Calibri"/>
              </a:defRPr>
            </a:pPr>
            <a:r>
              <a:t>INTERSTELLAR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Time dilation near Gargantua = applied general relativity</a:t>
            </a: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1 hour on Miller's Planet = 7 years on Earth</a:t>
            </a: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Cooper doesn't choose to lose his daughter — the physics does</a:t>
            </a: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Kip Thorne (Nobel laureate) as scientific advisor</a:t>
            </a: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First scientifically accurate black hole simulation in film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371600"/>
            <a:ext cx="3931920" cy="3474720"/>
          </a:xfrm>
          <a:prstGeom prst="roundRect">
            <a:avLst/>
          </a:prstGeom>
          <a:solidFill>
            <a:srgbClr val="141932"/>
          </a:solidFill>
          <a:ln w="1524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969BB4"/>
                </a:solidFill>
                <a:latin typeface="Calibri"/>
              </a:defRPr>
            </a:pPr>
            <a:r>
              <a:t>GENRE PARALLEL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103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C33C"/>
                </a:solidFill>
                <a:latin typeface="Calibri Light"/>
              </a:defRPr>
            </a:pPr>
            <a:r>
              <a:t>The Martian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651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969BB4"/>
                </a:solidFill>
                <a:latin typeface="Calibri Light"/>
              </a:defRPr>
            </a:pPr>
            <a:r>
              <a:t>Andy Weir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2004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600"/>
              </a:spcBef>
              <a:defRPr sz="1500" b="0" i="0">
                <a:solidFill>
                  <a:srgbClr val="D2D7E6"/>
                </a:solidFill>
                <a:latin typeface="Calibri Light"/>
              </a:defRPr>
            </a:pPr>
            <a:r>
              <a:t>Watney survives using real chemistry (hydrazine → water)</a:t>
            </a:r>
          </a:p>
          <a:p>
            <a:pPr algn="l">
              <a:spcBef>
                <a:spcPts val="1000"/>
              </a:spcBef>
              <a:defRPr sz="1500" b="0" i="0">
                <a:solidFill>
                  <a:srgbClr val="D2D7E6"/>
                </a:solidFill>
                <a:latin typeface="Calibri Light"/>
              </a:defRPr>
            </a:pPr>
            <a:r>
              <a:t>The plot stops the second the science stops</a:t>
            </a:r>
          </a:p>
        </p:txBody>
      </p:sp>
    </p:spTree>
  </p:cSld>
  <p:clrMapOvr>
    <a:masterClrMapping/>
  </p:clrMapOvr>
  <p:transition xmlns:ns0="http://schemas.microsoft.com/office/powerpoint/2010/main" spd="med" ns0:dur="800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3657600"/>
            <a:ext cx="3657600" cy="3657600"/>
          </a:xfrm>
          <a:prstGeom prst="ellipse">
            <a:avLst/>
          </a:prstGeom>
          <a:solidFill>
            <a:srgbClr val="50DCE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5AAAFF"/>
                </a:solidFill>
                <a:latin typeface="Calibri"/>
              </a:defRPr>
            </a:pPr>
            <a:r>
              <a:t>Hallmark 2: The Isolated Protagonist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5486400" cy="254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C33C"/>
                </a:solidFill>
                <a:latin typeface="Calibri"/>
              </a:defRPr>
            </a:pPr>
            <a:r>
              <a:t>INTERSTELLAR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Cooper separated from his family for decades by physics itself</a:t>
            </a: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Strips away every support system civilization provides</a:t>
            </a: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Then asks: what was that civilization actually for?</a:t>
            </a:r>
          </a:p>
          <a:p>
            <a:pPr algn="l">
              <a:spcBef>
                <a:spcPts val="1000"/>
              </a:spcBef>
              <a:defRPr sz="8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1400"/>
              </a:spcBef>
              <a:defRPr sz="1700" b="1" i="0">
                <a:solidFill>
                  <a:srgbClr val="50DCE6"/>
                </a:solidFill>
                <a:latin typeface="Calibri Light"/>
              </a:defRPr>
            </a:pPr>
            <a:r>
              <a:t>Central question:</a:t>
            </a:r>
          </a:p>
          <a:p>
            <a:pPr algn="l">
              <a:spcBef>
                <a:spcPts val="600"/>
              </a:spcBef>
              <a:defRPr sz="1900" b="0" i="1">
                <a:solidFill>
                  <a:srgbClr val="FAFAFF"/>
                </a:solidFill>
                <a:latin typeface="Calibri Light"/>
              </a:defRPr>
            </a:pPr>
            <a:r>
              <a:t>What does a parent owe a child when humanity itself is at stake?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371600"/>
            <a:ext cx="3931920" cy="3474720"/>
          </a:xfrm>
          <a:prstGeom prst="roundRect">
            <a:avLst/>
          </a:prstGeom>
          <a:solidFill>
            <a:srgbClr val="141932"/>
          </a:solidFill>
          <a:ln w="1524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969BB4"/>
                </a:solidFill>
                <a:latin typeface="Calibri"/>
              </a:defRPr>
            </a:pPr>
            <a:r>
              <a:t>GENRE PARALLEL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103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C33C"/>
                </a:solidFill>
                <a:latin typeface="Calibri Light"/>
              </a:defRPr>
            </a:pPr>
            <a:r>
              <a:t>Contact (1997)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74320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600"/>
              </a:spcBef>
              <a:defRPr sz="1500" b="0" i="0">
                <a:solidFill>
                  <a:srgbClr val="D2D7E6"/>
                </a:solidFill>
                <a:latin typeface="Calibri Light"/>
              </a:defRPr>
            </a:pPr>
            <a:r>
              <a:t>Ellie Arroway — only human to make first contact</a:t>
            </a:r>
          </a:p>
          <a:p>
            <a:pPr algn="l">
              <a:spcBef>
                <a:spcPts val="1000"/>
              </a:spcBef>
              <a:defRPr sz="1500" b="0" i="0">
                <a:solidFill>
                  <a:srgbClr val="D2D7E6"/>
                </a:solidFill>
                <a:latin typeface="Calibri Light"/>
              </a:defRPr>
            </a:pPr>
            <a:r>
              <a:t>Isolation becomes a lens for science vs. faith, individual vs. institution</a:t>
            </a:r>
          </a:p>
        </p:txBody>
      </p:sp>
    </p:spTree>
  </p:cSld>
  <p:clrMapOvr>
    <a:masterClrMapping/>
  </p:clrMapOvr>
  <p:transition xmlns:ns0="http://schemas.microsoft.com/office/powerpoint/2010/main" spd="med" ns0:dur="800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4114800"/>
            <a:ext cx="3657600" cy="3657600"/>
          </a:xfrm>
          <a:prstGeom prst="ellipse">
            <a:avLst/>
          </a:prstGeom>
          <a:solidFill>
            <a:srgbClr val="FFC33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5AAAFF"/>
                </a:solidFill>
                <a:latin typeface="Calibri"/>
              </a:defRPr>
            </a:pPr>
            <a:r>
              <a:t>Hallmark 3: The "What If" Premise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5486400" cy="254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C33C"/>
                </a:solidFill>
                <a:latin typeface="Calibri"/>
              </a:defRPr>
            </a:pPr>
            <a:r>
              <a:t>INTERSTELLAR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What if Earth became uninhabitable and humanity had one</a:t>
            </a:r>
          </a:p>
          <a:p>
            <a:pPr algn="l">
              <a:spcBef>
                <a:spcPts val="2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    launch window?</a:t>
            </a: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Forces the question: who gets to decide who lives?</a:t>
            </a:r>
          </a:p>
          <a:p>
            <a:pPr algn="l">
              <a:spcBef>
                <a:spcPts val="8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▸  Brand's monologue: love as the only force that transcends</a:t>
            </a:r>
          </a:p>
          <a:p>
            <a:pPr algn="l">
              <a:spcBef>
                <a:spcPts val="200"/>
              </a:spcBef>
              <a:defRPr sz="1700" b="0" i="0">
                <a:solidFill>
                  <a:srgbClr val="D2D7E6"/>
                </a:solidFill>
                <a:latin typeface="Calibri Light"/>
              </a:defRPr>
            </a:pPr>
            <a:r>
              <a:t>    dimensions — the film's emotional answer &amp; political argument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371600"/>
            <a:ext cx="3931920" cy="3474720"/>
          </a:xfrm>
          <a:prstGeom prst="roundRect">
            <a:avLst/>
          </a:prstGeom>
          <a:solidFill>
            <a:srgbClr val="141932"/>
          </a:solidFill>
          <a:ln w="1524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969BB4"/>
                </a:solidFill>
                <a:latin typeface="Calibri"/>
              </a:defRPr>
            </a:pPr>
            <a:r>
              <a:t>GENRE PARALLEL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103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C33C"/>
                </a:solidFill>
                <a:latin typeface="Calibri Light"/>
              </a:defRPr>
            </a:pPr>
            <a:r>
              <a:t>Arrival (2016)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74320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600"/>
              </a:spcBef>
              <a:defRPr sz="1500" b="0" i="0">
                <a:solidFill>
                  <a:srgbClr val="D2D7E6"/>
                </a:solidFill>
                <a:latin typeface="Calibri Light"/>
              </a:defRPr>
            </a:pPr>
            <a:r>
              <a:t>What if aliens arrived and the only tool was language?</a:t>
            </a:r>
          </a:p>
          <a:p>
            <a:pPr algn="l">
              <a:spcBef>
                <a:spcPts val="1000"/>
              </a:spcBef>
              <a:defRPr sz="1500" b="0" i="0">
                <a:solidFill>
                  <a:srgbClr val="D2D7E6"/>
                </a:solidFill>
                <a:latin typeface="Calibri Light"/>
              </a:defRPr>
            </a:pPr>
            <a:r>
              <a:t>Forces questions about communication, determinism, and choice</a:t>
            </a:r>
          </a:p>
        </p:txBody>
      </p:sp>
    </p:spTree>
  </p:cSld>
  <p:clrMapOvr>
    <a:masterClrMapping/>
  </p:clrMapOvr>
  <p:transition xmlns:ns0="http://schemas.microsoft.com/office/powerpoint/2010/main" spd="med" ns0:dur="800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0" y="1371600"/>
            <a:ext cx="6400800" cy="6400800"/>
          </a:xfrm>
          <a:prstGeom prst="ellipse">
            <a:avLst/>
          </a:prstGeom>
          <a:solidFill>
            <a:srgbClr val="FF8C3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2743200"/>
            <a:ext cx="4572000" cy="4572000"/>
          </a:xfrm>
          <a:prstGeom prst="ellipse">
            <a:avLst/>
          </a:prstGeom>
          <a:solidFill>
            <a:srgbClr val="5AAA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2560320"/>
            <a:ext cx="3931920" cy="25400"/>
          </a:xfrm>
          <a:prstGeom prst="rect">
            <a:avLst/>
          </a:prstGeom>
          <a:solidFill>
            <a:srgbClr val="FF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 i="0">
                <a:solidFill>
                  <a:srgbClr val="FFC33C"/>
                </a:solidFill>
                <a:latin typeface="Calibri"/>
              </a:defRPr>
            </a:pPr>
            <a:r>
              <a:t>THE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969BB4"/>
                </a:solidFill>
                <a:latin typeface="Calibri Light"/>
              </a:defRPr>
            </a:pPr>
            <a:r>
              <a:t>Plot Synopsis  &amp; 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846320"/>
            <a:ext cx="3931920" cy="25400"/>
          </a:xfrm>
          <a:prstGeom prst="rect">
            <a:avLst/>
          </a:prstGeom>
          <a:solidFill>
            <a:srgbClr val="FF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ns0="http://schemas.microsoft.com/office/powerpoint/2010/main" spd="med" ns0:dur="900">
    <p:wipe dir="d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5AAAFF"/>
                </a:solidFill>
                <a:latin typeface="Calibri"/>
              </a:defRPr>
            </a:pPr>
            <a:r>
              <a:t>Plot Synopsis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743200" cy="254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1400"/>
              </a:spcBef>
              <a:defRPr sz="2000" b="0" i="0">
                <a:solidFill>
                  <a:srgbClr val="D2D7E6"/>
                </a:solidFill>
                <a:latin typeface="Calibri Light"/>
              </a:defRPr>
            </a:pPr>
            <a:r>
              <a:t>▸  Earth is dying from crop blight</a:t>
            </a:r>
          </a:p>
          <a:p>
            <a:pPr algn="l">
              <a:spcBef>
                <a:spcPts val="1400"/>
              </a:spcBef>
              <a:defRPr sz="2000" b="0" i="0">
                <a:solidFill>
                  <a:srgbClr val="D2D7E6"/>
                </a:solidFill>
                <a:latin typeface="Calibri Light"/>
              </a:defRPr>
            </a:pPr>
            <a:r>
              <a:t>▸  Former NASA pilot Cooper recruited for interstellar mission</a:t>
            </a:r>
          </a:p>
          <a:p>
            <a:pPr algn="l">
              <a:spcBef>
                <a:spcPts val="1400"/>
              </a:spcBef>
              <a:defRPr sz="2000" b="0" i="0">
                <a:solidFill>
                  <a:srgbClr val="D2D7E6"/>
                </a:solidFill>
                <a:latin typeface="Calibri Light"/>
              </a:defRPr>
            </a:pPr>
            <a:r>
              <a:t>▸  Travels through a wormhole near Saturn → another galaxy</a:t>
            </a:r>
          </a:p>
          <a:p>
            <a:pPr algn="l">
              <a:spcBef>
                <a:spcPts val="1400"/>
              </a:spcBef>
              <a:defRPr sz="2000" b="0" i="0">
                <a:solidFill>
                  <a:srgbClr val="D2D7E6"/>
                </a:solidFill>
                <a:latin typeface="Calibri Light"/>
              </a:defRPr>
            </a:pPr>
            <a:r>
              <a:t>▸  Time dilation, black holes, gravitational physics, and wormhole</a:t>
            </a:r>
          </a:p>
          <a:p>
            <a:pPr algn="l">
              <a:spcBef>
                <a:spcPts val="200"/>
              </a:spcBef>
              <a:defRPr sz="2000" b="0" i="0">
                <a:solidFill>
                  <a:srgbClr val="D2D7E6"/>
                </a:solidFill>
                <a:latin typeface="Calibri Light"/>
              </a:defRPr>
            </a:pPr>
            <a:r>
              <a:t>    mechanics drive every major plot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5029200"/>
            <a:ext cx="10332720" cy="1280160"/>
          </a:xfrm>
          <a:prstGeom prst="roundRect">
            <a:avLst/>
          </a:prstGeom>
          <a:solidFill>
            <a:srgbClr val="141632"/>
          </a:solidFill>
          <a:ln w="1524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 i="1">
                <a:solidFill>
                  <a:srgbClr val="FFC33C"/>
                </a:solidFill>
                <a:latin typeface="Calibri Light"/>
              </a:defRPr>
            </a:pPr>
            <a:r>
              <a:t>  Cooper loses decades with his daughter not because he chose to —</a:t>
            </a:r>
          </a:p>
          <a:p>
            <a:pPr algn="ctr">
              <a:defRPr sz="1800" b="0" i="1">
                <a:solidFill>
                  <a:srgbClr val="FFC33C"/>
                </a:solidFill>
                <a:latin typeface="Calibri Light"/>
              </a:defRPr>
            </a:pPr>
            <a:r>
              <a:t>  but because the universe operates on rules that don't care about feelings.</a:t>
            </a:r>
          </a:p>
        </p:txBody>
      </p:sp>
    </p:spTree>
  </p:cSld>
  <p:clrMapOvr>
    <a:masterClrMapping/>
  </p:clrMapOvr>
  <p:transition xmlns:ns0="http://schemas.microsoft.com/office/powerpoint/2010/main" spd="med" ns0:dur="800">
    <p:fade thruBlk="1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0" y="0"/>
            <a:ext cx="4572000" cy="4572000"/>
          </a:xfrm>
          <a:prstGeom prst="ellipse">
            <a:avLst/>
          </a:prstGeom>
          <a:solidFill>
            <a:srgbClr val="FFC33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4572000" cy="4572000"/>
          </a:xfrm>
          <a:prstGeom prst="ellipse">
            <a:avLst/>
          </a:prstGeom>
          <a:solidFill>
            <a:srgbClr val="5AAA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 i="0">
                <a:solidFill>
                  <a:srgbClr val="FFC33C"/>
                </a:solidFill>
                <a:latin typeface="Georgia"/>
              </a:defRPr>
            </a:pPr>
            <a: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645920"/>
            <a:ext cx="8503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AFAFF"/>
                </a:solidFill>
                <a:latin typeface="Georgia"/>
              </a:defRPr>
            </a:pPr>
            <a:r>
              <a:t>Love is the one thing we're capable of</a:t>
            </a:r>
            <a:br/>
            <a:r>
              <a:t>perceiving that transcends</a:t>
            </a:r>
            <a:br/>
            <a:r>
              <a:t>dimensions of time and space.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969BB4"/>
                </a:solidFill>
                <a:latin typeface="Calibri Light"/>
              </a:defRPr>
            </a:pPr>
            <a:r>
              <a:t>— Dr. Amelia Brand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4572000"/>
            <a:ext cx="3017520" cy="19050"/>
          </a:xfrm>
          <a:prstGeom prst="rect">
            <a:avLst/>
          </a:prstGeom>
          <a:solidFill>
            <a:srgbClr val="FFC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D2D7E6"/>
                </a:solidFill>
                <a:latin typeface="Calibri Light"/>
              </a:defRPr>
            </a:pPr>
            <a:r>
              <a:t>The film's most debated line. It sits in tension with everything the science</a:t>
            </a:r>
          </a:p>
          <a:p>
            <a:pPr algn="ctr">
              <a:spcBef>
                <a:spcPts val="400"/>
              </a:spcBef>
              <a:defRPr sz="1600" b="0" i="0">
                <a:solidFill>
                  <a:srgbClr val="D2D7E6"/>
                </a:solidFill>
                <a:latin typeface="Calibri Light"/>
              </a:defRPr>
            </a:pPr>
            <a:r>
              <a:t>has told us. Nolan is asking whether reason alone is enough —</a:t>
            </a:r>
          </a:p>
          <a:p>
            <a:pPr algn="ctr">
              <a:spcBef>
                <a:spcPts val="400"/>
              </a:spcBef>
              <a:defRPr sz="1600" b="0" i="0">
                <a:solidFill>
                  <a:srgbClr val="D2D7E6"/>
                </a:solidFill>
                <a:latin typeface="Calibri Light"/>
              </a:defRPr>
            </a:pPr>
            <a:r>
              <a:t>exactly the kind of question hard sci-fi is built to ask.</a:t>
            </a:r>
          </a:p>
        </p:txBody>
      </p:sp>
    </p:spTree>
  </p:cSld>
  <p:clrMapOvr>
    <a:masterClrMapping/>
  </p:clrMapOvr>
  <p:transition xmlns:ns0="http://schemas.microsoft.com/office/powerpoint/2010/main" spd="med" ns0:dur="1000">
    <p:fade thruBlk="1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5AAAFF"/>
                </a:solidFill>
                <a:latin typeface="Calibri"/>
              </a:defRPr>
            </a:pPr>
            <a:r>
              <a:t>Key Scene: Miller's Planet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4114800" cy="254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640080"/>
          </a:xfrm>
          <a:prstGeom prst="roundRect">
            <a:avLst/>
          </a:prstGeom>
          <a:solidFill>
            <a:srgbClr val="191C37"/>
          </a:solidFill>
          <a:ln w="12700">
            <a:solidFill>
              <a:srgbClr val="50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50DCE6"/>
                </a:solidFill>
                <a:latin typeface="Calibri Light"/>
              </a:defRPr>
            </a:pPr>
            <a:r>
              <a:t>    ▶  Timestamp: ~1:05:00   |   Duration: ~5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C33C"/>
                </a:solidFill>
                <a:latin typeface="Calibri"/>
              </a:defRPr>
            </a:pPr>
            <a:r>
              <a:t>WHAT TO WATCH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Calibri Light"/>
              </a:defRPr>
            </a:pPr>
          </a:p>
          <a:p>
            <a:pPr algn="l">
              <a:spcBef>
                <a:spcPts val="1000"/>
              </a:spcBef>
              <a:defRPr sz="1800" b="0" i="0">
                <a:solidFill>
                  <a:srgbClr val="D2D7E6"/>
                </a:solidFill>
                <a:latin typeface="Calibri Light"/>
              </a:defRPr>
            </a:pPr>
            <a:r>
              <a:t>▸  Cooper and Brand land on a water world in Gargantua's gravitational field</a:t>
            </a:r>
          </a:p>
          <a:p>
            <a:pPr algn="l">
              <a:spcBef>
                <a:spcPts val="1000"/>
              </a:spcBef>
              <a:defRPr sz="1800" b="0" i="0">
                <a:solidFill>
                  <a:srgbClr val="D2D7E6"/>
                </a:solidFill>
                <a:latin typeface="Calibri Light"/>
              </a:defRPr>
            </a:pPr>
            <a:r>
              <a:t>▸  Every hour on the surface = 7 years on Earth</a:t>
            </a:r>
          </a:p>
          <a:p>
            <a:pPr algn="l">
              <a:spcBef>
                <a:spcPts val="1000"/>
              </a:spcBef>
              <a:defRPr sz="1800" b="0" i="0">
                <a:solidFill>
                  <a:srgbClr val="D2D7E6"/>
                </a:solidFill>
                <a:latin typeface="Calibri Light"/>
              </a:defRPr>
            </a:pPr>
            <a:r>
              <a:t>▸  When they return, Romilly has aged 23 years waiting for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120640"/>
            <a:ext cx="9418320" cy="1097280"/>
          </a:xfrm>
          <a:prstGeom prst="roundRect">
            <a:avLst/>
          </a:prstGeom>
          <a:solidFill>
            <a:srgbClr val="141632"/>
          </a:solidFill>
          <a:ln w="1905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C33C"/>
                </a:solidFill>
                <a:latin typeface="Calibri Light"/>
              </a:defRPr>
            </a:pPr>
            <a:r>
              <a:t>  "The science is not decorating the tragedy — it IS the tragedy."</a:t>
            </a:r>
          </a:p>
        </p:txBody>
      </p:sp>
    </p:spTree>
  </p:cSld>
  <p:clrMapOvr>
    <a:masterClrMapping/>
  </p:clrMapOvr>
  <p:transition xmlns:ns0="http://schemas.microsoft.com/office/powerpoint/2010/main" spd="med" ns0:dur="800">
    <p:cover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FFC33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5AAAFF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25400"/>
          </a:xfrm>
          <a:prstGeom prst="rect">
            <a:avLst/>
          </a:prstGeom>
          <a:solidFill>
            <a:srgbClr val="5A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972800" cy="731520"/>
          </a:xfrm>
          <a:prstGeom prst="roundRect">
            <a:avLst/>
          </a:prstGeom>
          <a:solidFill>
            <a:srgbClr val="101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AFAFF"/>
                </a:solidFill>
                <a:latin typeface="Calibri"/>
              </a:defRPr>
            </a:pPr>
            <a:r>
              <a:t>Scientific 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554480"/>
            <a:ext cx="1097280" cy="502920"/>
          </a:xfrm>
          <a:prstGeom prst="roundRect">
            <a:avLst/>
          </a:prstGeom>
          <a:solidFill>
            <a:srgbClr val="28230F"/>
          </a:solidFill>
          <a:ln w="1270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C33C"/>
                </a:solidFill>
                <a:latin typeface="Calibri"/>
              </a:defRPr>
            </a:pPr>
            <a:r>
              <a:t>9/10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55448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69BB4"/>
                </a:solidFill>
                <a:latin typeface="Calibri Light"/>
              </a:defRPr>
            </a:pPr>
            <a:r>
              <a:t>Thorne's physics are real; ending stretches deliberately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10972800" cy="731520"/>
          </a:xfrm>
          <a:prstGeom prst="roundRect">
            <a:avLst/>
          </a:prstGeom>
          <a:solidFill>
            <a:srgbClr val="0C0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AFAFF"/>
                </a:solidFill>
                <a:latin typeface="Calibri"/>
              </a:defRPr>
            </a:pPr>
            <a:r>
              <a:t>"What If" Quality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468880"/>
            <a:ext cx="1097280" cy="502920"/>
          </a:xfrm>
          <a:prstGeom prst="roundRect">
            <a:avLst/>
          </a:prstGeom>
          <a:solidFill>
            <a:srgbClr val="28230F"/>
          </a:solidFill>
          <a:ln w="1270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C33C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46888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69BB4"/>
                </a:solidFill>
                <a:latin typeface="Calibri Light"/>
              </a:defRPr>
            </a:pPr>
            <a:r>
              <a:t>Genuinely plausible, more immediate than most sci-fi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91840"/>
            <a:ext cx="10972800" cy="731520"/>
          </a:xfrm>
          <a:prstGeom prst="roundRect">
            <a:avLst/>
          </a:prstGeom>
          <a:solidFill>
            <a:srgbClr val="101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AFAFF"/>
                </a:solidFill>
                <a:latin typeface="Calibri"/>
              </a:defRPr>
            </a:pPr>
            <a:r>
              <a:t>Science as Plot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383280"/>
            <a:ext cx="1097280" cy="502920"/>
          </a:xfrm>
          <a:prstGeom prst="roundRect">
            <a:avLst/>
          </a:prstGeom>
          <a:solidFill>
            <a:srgbClr val="28230F"/>
          </a:solidFill>
          <a:ln w="1270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C33C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38328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69BB4"/>
                </a:solidFill>
                <a:latin typeface="Calibri Light"/>
              </a:defRPr>
            </a:pPr>
            <a:r>
              <a:t>Third act requires understanding gravitational physics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10972800" cy="731520"/>
          </a:xfrm>
          <a:prstGeom prst="roundRect">
            <a:avLst/>
          </a:prstGeom>
          <a:solidFill>
            <a:srgbClr val="0C0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9767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AFAFF"/>
                </a:solidFill>
                <a:latin typeface="Calibri"/>
              </a:defRPr>
            </a:pPr>
            <a:r>
              <a:t>Genre Hallmarks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297679"/>
            <a:ext cx="1097280" cy="502920"/>
          </a:xfrm>
          <a:prstGeom prst="roundRect">
            <a:avLst/>
          </a:prstGeom>
          <a:solidFill>
            <a:srgbClr val="28230F"/>
          </a:solidFill>
          <a:ln w="1270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C33C"/>
                </a:solidFill>
                <a:latin typeface="Calibri"/>
              </a:defRPr>
            </a:pPr>
            <a:r>
              <a:t>9/10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297679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69BB4"/>
                </a:solidFill>
                <a:latin typeface="Calibri Light"/>
              </a:defRPr>
            </a:pPr>
            <a:r>
              <a:t>Isolated protagonist, social critique, plausible premise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0972800" cy="731520"/>
          </a:xfrm>
          <a:prstGeom prst="roundRect">
            <a:avLst/>
          </a:prstGeom>
          <a:solidFill>
            <a:srgbClr val="101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1207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AFAFF"/>
                </a:solidFill>
                <a:latin typeface="Calibri"/>
              </a:defRPr>
            </a:pPr>
            <a:r>
              <a:t>Watchability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5212079"/>
            <a:ext cx="1097280" cy="502920"/>
          </a:xfrm>
          <a:prstGeom prst="roundRect">
            <a:avLst/>
          </a:prstGeom>
          <a:solidFill>
            <a:srgbClr val="28230F"/>
          </a:solidFill>
          <a:ln w="1270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C33C"/>
                </a:solidFill>
                <a:latin typeface="Calibri"/>
              </a:defRPr>
            </a:pPr>
            <a:r>
              <a:t>9/10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212079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69BB4"/>
                </a:solidFill>
                <a:latin typeface="Calibri Light"/>
              </a:defRPr>
            </a:pPr>
            <a:r>
              <a:t>Visually stunning, emotionally driven, scientifically serious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943600"/>
            <a:ext cx="7589520" cy="685800"/>
          </a:xfrm>
          <a:prstGeom prst="roundRect">
            <a:avLst/>
          </a:prstGeom>
          <a:solidFill>
            <a:srgbClr val="19160A"/>
          </a:solidFill>
          <a:ln w="25400">
            <a:solidFill>
              <a:srgbClr val="FF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C33C"/>
                </a:solidFill>
                <a:latin typeface="Calibri Light"/>
              </a:defRPr>
            </a:pPr>
            <a:r>
              <a:t>One of the best hard sci-fi films ever made.</a:t>
            </a:r>
          </a:p>
        </p:txBody>
      </p:sp>
    </p:spTree>
  </p:cSld>
  <p:clrMapOvr>
    <a:masterClrMapping/>
  </p:clrMapOvr>
  <p:transition xmlns:ns0="http://schemas.microsoft.com/office/powerpoint/2010/main" spd="med" ns0:dur="900">
    <p:split orient="horz" dir="ou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