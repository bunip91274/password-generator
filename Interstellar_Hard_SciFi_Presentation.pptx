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4B4FF"/>
                </a:solidFill>
                <a:latin typeface="Calibri"/>
              </a:defRPr>
            </a:pPr>
            <a:r>
              <a:t>INTERSTELLAR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CDCE6"/>
                </a:solidFill>
                <a:latin typeface="Calibri"/>
              </a:defRPr>
            </a:pPr>
            <a:r>
              <a:t>Hard Science Fiction in Film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E"/>
                </a:solidFill>
                <a:latin typeface="Calibri"/>
              </a:defRPr>
            </a:pPr>
            <a:r>
              <a:t>Directed by Christopher Nolan (2014)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E"/>
                </a:solidFill>
                <a:latin typeface="Calibri"/>
              </a:defRPr>
            </a:pPr>
            <a:r>
              <a:t>ISU Genre Study — Companion to Project Hail Mary by Andy Weir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4FF"/>
                </a:solidFill>
                <a:latin typeface="Calibri"/>
              </a:defRPr>
            </a:pPr>
            <a:r>
              <a:t>What Is Hard Science Fiction?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850"/>
                </a:solidFill>
                <a:latin typeface="Calibri"/>
              </a:defRPr>
            </a:pPr>
            <a:r>
              <a:t>The science is the story — not the backdrop.</a:t>
            </a:r>
          </a:p>
          <a:p>
            <a:pPr algn="l">
              <a:spcBef>
                <a:spcPts val="12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Soft sci-fi uses spaceships and robots as decoration</a:t>
            </a:r>
          </a:p>
          <a:p>
            <a:pPr algn="l">
              <a:spcBef>
                <a:spcPts val="1200"/>
              </a:spcBef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Hard sci-fi: remove the physics or biology, and the plot collapses</a:t>
            </a:r>
          </a:p>
          <a:p>
            <a:pPr algn="l">
              <a:spcBef>
                <a:spcPts val="1200"/>
              </a:spcBef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Always starts with a plausible "what if" premise</a:t>
            </a:r>
          </a:p>
          <a:p>
            <a:pPr algn="l">
              <a:spcBef>
                <a:spcPts val="1200"/>
              </a:spcBef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Uses that premise to examine something true about the real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C850"/>
                </a:solidFill>
                <a:latin typeface="Calibri"/>
              </a:defRPr>
            </a:pPr>
            <a:r>
              <a:t>THREE HALLMARKS OF HARD SCI-FI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E"/>
                </a:solidFill>
                <a:latin typeface="Calibri"/>
              </a:defRPr>
            </a:pPr>
            <a:r>
              <a:t>Each demonstrated in Interstellar — with one additional genre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4FF"/>
                </a:solidFill>
                <a:latin typeface="Calibri"/>
              </a:defRPr>
            </a:pPr>
            <a:r>
              <a:t>Three Hallmarks —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9601200" cy="1188720"/>
          </a:xfrm>
          <a:prstGeom prst="roundRect">
            <a:avLst/>
          </a:prstGeom>
          <a:solidFill>
            <a:srgbClr val="1E1E46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1.  Science as Plot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383280"/>
            <a:ext cx="9601200" cy="1188720"/>
          </a:xfrm>
          <a:prstGeom prst="roundRect">
            <a:avLst/>
          </a:prstGeom>
          <a:solidFill>
            <a:srgbClr val="1E1E46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2.  The Isolated Protagonist as Social Mirror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9601200" cy="1188720"/>
          </a:xfrm>
          <a:prstGeom prst="roundRect">
            <a:avLst/>
          </a:prstGeom>
          <a:solidFill>
            <a:srgbClr val="1E1E46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3.  The "What If" Premise as Social Critique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  <a:latin typeface="Calibri"/>
              </a:defRPr>
            </a:pPr>
            <a:r>
              <a:t>Hallmark 1: Science as Plot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50"/>
                </a:solidFill>
                <a:latin typeface="Calibri"/>
              </a:defRPr>
            </a:pPr>
            <a:r>
              <a:t>Interstellar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Time dilation near Gargantua is applied special relativity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1 hour on Miller's Planet = 7 years on Earth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Cooper doesn't choose to lose his daughter — the physics does it for him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Kip Thorne (Nobel laureate) served as scientific advisor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Gargantua: first scientifically accurate black hole simulation in film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FFC850"/>
                </a:solidFill>
                <a:latin typeface="Calibri"/>
              </a:defRPr>
            </a:pPr>
            <a:r>
              <a:t>Genre Parallel: The Martian (Andy Weir)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Mark Watney survives using real chemistry (hydrazine → water)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The plot stops the second the science stops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  <a:latin typeface="Calibri"/>
              </a:defRPr>
            </a:pPr>
            <a:r>
              <a:t>Hallmark 2: The Isolated Protagonist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50"/>
                </a:solidFill>
                <a:latin typeface="Calibri"/>
              </a:defRPr>
            </a:pPr>
            <a:r>
              <a:t>Interstellar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Cooper is separated from his family for decades by the physics of space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Strips away every support system civilization provides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Central question: What does a parent owe a child when humanity is at stake?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FFC850"/>
                </a:solidFill>
                <a:latin typeface="Calibri"/>
              </a:defRPr>
            </a:pPr>
            <a:r>
              <a:t>Genre Parallel: Contact (1997)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Ellie Arroway — only human to make first contact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Isolation becomes a lens for science vs. faith, individual vs. institution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4FF"/>
                </a:solidFill>
                <a:latin typeface="Calibri"/>
              </a:defRPr>
            </a:pPr>
            <a:r>
              <a:t>Hallmark 3: The "What If"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50"/>
                </a:solidFill>
                <a:latin typeface="Calibri"/>
              </a:defRPr>
            </a:pPr>
            <a:r>
              <a:t>Interstellar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What if Earth became uninhabitable and humanity had one launch window?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Forces the question: who gets to decide who lives?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Brand's monologue — love as the only force transcending dimensions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The film's emotional answer and political argument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FFC850"/>
                </a:solidFill>
                <a:latin typeface="Calibri"/>
              </a:defRPr>
            </a:pPr>
            <a:r>
              <a:t>Genre Parallel: Arrival (2016)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What if aliens arrived and the only tool was language?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Forces questions about communication, determinism, and choice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C850"/>
                </a:solidFill>
                <a:latin typeface="Calibri"/>
              </a:defRPr>
            </a:pPr>
            <a:r>
              <a:t>THE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BE"/>
                </a:solidFill>
                <a:latin typeface="Calibri"/>
              </a:defRPr>
            </a:pPr>
            <a:r>
              <a:t>Plot Synopsis &amp;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4FF"/>
                </a:solidFill>
                <a:latin typeface="Calibri"/>
              </a:defRPr>
            </a:pPr>
            <a:r>
              <a:t>Plot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Earth is dying from crop blight</a:t>
            </a:r>
          </a:p>
          <a:p>
            <a:pPr algn="l">
              <a:spcBef>
                <a:spcPts val="1200"/>
              </a:spcBef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Former NASA pilot Cooper recruited for interstellar mission</a:t>
            </a:r>
          </a:p>
          <a:p>
            <a:pPr algn="l">
              <a:spcBef>
                <a:spcPts val="1200"/>
              </a:spcBef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Travels through a wormhole near Saturn to find a habitable planet</a:t>
            </a:r>
          </a:p>
          <a:p>
            <a:pPr algn="l">
              <a:spcBef>
                <a:spcPts val="1200"/>
              </a:spcBef>
              <a:defRPr sz="2000" b="0">
                <a:solidFill>
                  <a:srgbClr val="DCDCE6"/>
                </a:solidFill>
                <a:latin typeface="Calibri"/>
              </a:defRPr>
            </a:pPr>
            <a:r>
              <a:t>• Time dilation, black holes, gravitational physics, and wormhole mechanics drive every major plot event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2000" b="1">
                <a:solidFill>
                  <a:srgbClr val="FFC850"/>
                </a:solidFill>
                <a:latin typeface="Calibri"/>
              </a:defRPr>
            </a:pPr>
            <a:r>
              <a:t>Cooper loses decades with his daughter not because he chose to,</a:t>
            </a:r>
            <a:br/>
            <a:r>
              <a:t>but because the universe operates on rules that don't care about feelings.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C850"/>
                </a:solidFill>
                <a:latin typeface="Calibri"/>
              </a:defRPr>
            </a:pPr>
            <a:r>
              <a:t>"Love is the one thing we're capable of</a:t>
            </a:r>
            <a:br/>
            <a:r>
              <a:t>perceiving that transcends</a:t>
            </a:r>
            <a:br/>
            <a:r>
              <a:t>dimensions of time and space."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BE"/>
                </a:solidFill>
                <a:latin typeface="Calibri"/>
              </a:defRPr>
            </a:pPr>
            <a:r>
              <a:t>— Dr. Amelia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DCE6"/>
                </a:solidFill>
                <a:latin typeface="Calibri"/>
              </a:defRPr>
            </a:pPr>
            <a:r>
              <a:t>The film's most debated line. It sits in tension with everything the science has told us — Nolan is asking whether reason alone is enough.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4FF"/>
                </a:solidFill>
                <a:latin typeface="Calibri"/>
              </a:defRPr>
            </a:pPr>
            <a:r>
              <a:t>Key Scene: Miller's Planet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AAABE"/>
                </a:solidFill>
                <a:latin typeface="Calibri"/>
              </a:defRPr>
            </a:pPr>
            <a:r>
              <a:t>Timestamp: ~1:05:00  |  Duration: ~5 minutes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FFC850"/>
                </a:solidFill>
                <a:latin typeface="Calibri"/>
              </a:defRPr>
            </a:pPr>
            <a:r>
              <a:t>What to watch for: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Cooper and Brand land on a water world in Gargantua's gravitational field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Every hour on the surface = 7 years on Earth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DCDCE6"/>
                </a:solidFill>
                <a:latin typeface="Calibri"/>
              </a:defRPr>
            </a:pPr>
            <a:r>
              <a:t>• When they return, Romilly has aged 23 years waiting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FFC850"/>
                </a:solidFill>
                <a:latin typeface="Calibri"/>
              </a:defRPr>
            </a:pPr>
            <a:r>
              <a:t>"The science is not decorating the tragedy — it IS the tragedy."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4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Scientific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850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E"/>
                </a:solidFill>
                <a:latin typeface="Calibri"/>
              </a:defRPr>
            </a:pPr>
            <a:r>
              <a:t>Kip Thorne's physics are real; ending stretches deliberately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"What If"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850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E"/>
                </a:solidFill>
                <a:latin typeface="Calibri"/>
              </a:defRPr>
            </a:pPr>
            <a:r>
              <a:t>Genuinely plausible, more immediate than most sci-fi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Science as Plot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850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E"/>
                </a:solidFill>
                <a:latin typeface="Calibri"/>
              </a:defRPr>
            </a:pPr>
            <a:r>
              <a:t>Third act requires understanding gravitational physics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Genre Hallmarks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850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E"/>
                </a:solidFill>
                <a:latin typeface="Calibri"/>
              </a:defRPr>
            </a:pPr>
            <a:r>
              <a:t>Isolated protagonist, social critique, plausible premise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Watchability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850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E"/>
                </a:solidFill>
                <a:latin typeface="Calibri"/>
              </a:defRPr>
            </a:pPr>
            <a:r>
              <a:t>Visually stunning, emotionally driven, scientifically serious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850"/>
                </a:solidFill>
                <a:latin typeface="Calibri"/>
              </a:defRPr>
            </a:pPr>
            <a:r>
              <a:t>One of the best hard sci-fi films ever made.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